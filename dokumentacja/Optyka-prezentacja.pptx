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B32CE-3C90-C732-4A00-3AC233ED2721}" v="152" dt="2026-01-19T19:47:26.536"/>
    <p1510:client id="{9B47E4EC-107A-FCCB-3D7C-B23C31F85F0C}" v="1574" dt="2026-01-18T20:33:08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1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75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89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82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66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01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9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69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7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7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0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20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D335-8EA5-3F99-F048-2D0BD2C817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Optyka</a:t>
            </a:r>
            <a:r>
              <a:rPr lang="en-US" dirty="0"/>
              <a:t> </a:t>
            </a:r>
            <a:r>
              <a:rPr lang="en-US" dirty="0" err="1"/>
              <a:t>geometryczna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64B0E-942E-E1D6-E32D-89168B910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Załamanie</a:t>
            </a:r>
            <a:r>
              <a:rPr lang="en-US" dirty="0"/>
              <a:t> </a:t>
            </a:r>
            <a:r>
              <a:rPr lang="en-US" dirty="0" err="1"/>
              <a:t>promienia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soczewce</a:t>
            </a:r>
          </a:p>
        </p:txBody>
      </p:sp>
    </p:spTree>
    <p:extLst>
      <p:ext uri="{BB962C8B-B14F-4D97-AF65-F5344CB8AC3E}">
        <p14:creationId xmlns:p14="http://schemas.microsoft.com/office/powerpoint/2010/main" val="55626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6B06-326F-AAE6-3AF1-28390D00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Optyka</a:t>
            </a:r>
            <a:r>
              <a:rPr lang="en-US" dirty="0"/>
              <a:t> </a:t>
            </a:r>
            <a:r>
              <a:rPr lang="en-US" dirty="0" err="1"/>
              <a:t>geometryczna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1757E-D020-EF71-D2AC-86829E884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Dziedzina</a:t>
            </a:r>
            <a:r>
              <a:rPr lang="en-US" dirty="0"/>
              <a:t> </a:t>
            </a:r>
            <a:r>
              <a:rPr lang="en-US" dirty="0" err="1"/>
              <a:t>optyki</a:t>
            </a:r>
            <a:r>
              <a:rPr lang="en-US" dirty="0"/>
              <a:t> </a:t>
            </a:r>
            <a:r>
              <a:rPr lang="en-US" dirty="0" err="1"/>
              <a:t>zajmująca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 </a:t>
            </a:r>
            <a:r>
              <a:rPr lang="en-US" dirty="0" err="1"/>
              <a:t>wytłumaczeniem</a:t>
            </a:r>
            <a:r>
              <a:rPr lang="en-US" dirty="0"/>
              <a:t> </a:t>
            </a:r>
            <a:r>
              <a:rPr lang="en-US" dirty="0" err="1"/>
              <a:t>zjawisk</a:t>
            </a:r>
            <a:r>
              <a:rPr lang="en-US" dirty="0"/>
              <a:t> </a:t>
            </a:r>
            <a:r>
              <a:rPr lang="en-US" dirty="0" err="1"/>
              <a:t>optycznych</a:t>
            </a:r>
            <a:r>
              <a:rPr lang="en-US" dirty="0"/>
              <a:t> za </a:t>
            </a:r>
            <a:r>
              <a:rPr lang="en-US" dirty="0" err="1"/>
              <a:t>pomocą</a:t>
            </a:r>
            <a:r>
              <a:rPr lang="en-US" dirty="0"/>
              <a:t> </a:t>
            </a:r>
            <a:r>
              <a:rPr lang="en-US" dirty="0" err="1"/>
              <a:t>promienia</a:t>
            </a:r>
            <a:r>
              <a:rPr lang="en-US" dirty="0"/>
              <a:t>.</a:t>
            </a:r>
          </a:p>
          <a:p>
            <a:r>
              <a:rPr lang="en-US" dirty="0" err="1"/>
              <a:t>Promień</a:t>
            </a:r>
            <a:r>
              <a:rPr lang="en-US" dirty="0"/>
              <a:t> to </a:t>
            </a:r>
            <a:r>
              <a:rPr lang="en-US" dirty="0" err="1"/>
              <a:t>wiązka</a:t>
            </a:r>
            <a:r>
              <a:rPr lang="en-US" dirty="0"/>
              <a:t> </a:t>
            </a:r>
            <a:r>
              <a:rPr lang="en-US" dirty="0" err="1"/>
              <a:t>światła</a:t>
            </a:r>
            <a:r>
              <a:rPr lang="en-US" dirty="0"/>
              <a:t>, </a:t>
            </a:r>
            <a:r>
              <a:rPr lang="en-US" dirty="0" err="1"/>
              <a:t>wykorzystywana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model </a:t>
            </a:r>
            <a:r>
              <a:rPr lang="en-US" dirty="0" err="1"/>
              <a:t>fizyczny</a:t>
            </a:r>
            <a:r>
              <a:rPr lang="en-US" dirty="0"/>
              <a:t> </a:t>
            </a:r>
            <a:r>
              <a:rPr lang="en-US" dirty="0" err="1"/>
              <a:t>opisu</a:t>
            </a:r>
            <a:r>
              <a:rPr lang="en-US" dirty="0"/>
              <a:t> </a:t>
            </a:r>
            <a:r>
              <a:rPr lang="en-US" dirty="0" err="1"/>
              <a:t>rozchodzenia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światła</a:t>
            </a:r>
            <a:r>
              <a:rPr lang="en-US" dirty="0"/>
              <a:t> w </a:t>
            </a:r>
            <a:r>
              <a:rPr lang="en-US" dirty="0" err="1"/>
              <a:t>optyce</a:t>
            </a:r>
            <a:r>
              <a:rPr lang="en-US" dirty="0"/>
              <a:t> </a:t>
            </a:r>
            <a:r>
              <a:rPr lang="en-US" dirty="0" err="1"/>
              <a:t>geometrycznej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8B3A6-D81B-768B-F7AB-26C26AD3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3844-138A-48D0-9AF1-DA1BA95F2CE4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893C8-7B6A-B560-183D-1074351C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89ACE-ABAD-C4BE-6342-8676F9E5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94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5F6E-6813-4FB6-F89B-938CCD4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zjawiska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53E1-8781-3D17-A918-CD8D8AE85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Soczewki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mogą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wytwarzać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obraz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źródła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światła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zmieniając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kierunek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promieni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świetlnych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wychodzących</a:t>
            </a:r>
            <a:r>
              <a:rPr lang="en-US" dirty="0">
                <a:ea typeface="+mn-lt"/>
                <a:cs typeface="+mn-lt"/>
              </a:rPr>
              <a:t> z </a:t>
            </a:r>
            <a:r>
              <a:rPr lang="en-US" dirty="0" err="1">
                <a:ea typeface="+mn-lt"/>
                <a:cs typeface="+mn-lt"/>
              </a:rPr>
              <a:t>jego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powierzchni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Obraz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powstaje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gdy</a:t>
            </a:r>
            <a:r>
              <a:rPr lang="en-US" dirty="0">
                <a:ea typeface="+mn-lt"/>
                <a:cs typeface="+mn-lt"/>
              </a:rPr>
              <a:t> po </a:t>
            </a:r>
            <a:r>
              <a:rPr lang="en-US" dirty="0" err="1">
                <a:ea typeface="+mn-lt"/>
                <a:cs typeface="+mn-lt"/>
              </a:rPr>
              <a:t>zmianie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kierunku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przecinają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się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promienie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tworząc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obraz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rzeczywisty</a:t>
            </a:r>
            <a:r>
              <a:rPr lang="en-US" dirty="0">
                <a:ea typeface="+mn-lt"/>
                <a:cs typeface="+mn-lt"/>
              </a:rPr>
              <a:t>), </a:t>
            </a:r>
            <a:r>
              <a:rPr lang="en-US" dirty="0" err="1">
                <a:ea typeface="+mn-lt"/>
                <a:cs typeface="+mn-lt"/>
              </a:rPr>
              <a:t>lub</a:t>
            </a:r>
            <a:r>
              <a:rPr lang="en-US" dirty="0">
                <a:ea typeface="+mn-lt"/>
                <a:cs typeface="+mn-lt"/>
              </a:rPr>
              <a:t> ich </a:t>
            </a:r>
            <a:r>
              <a:rPr lang="en-US" dirty="0" err="1">
                <a:ea typeface="+mn-lt"/>
                <a:cs typeface="+mn-lt"/>
              </a:rPr>
              <a:t>przedłużenia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tworząc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obraz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pozorny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7EB32-C3E8-3D7B-603B-6AF16D1B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C406-EEA7-458D-925D-F10E1538A37F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6C72B-57EB-6DF4-EE81-335923F2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29955-7C27-7A4E-3C9B-6D3D094C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4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6648-352B-FAE4-608F-C7F1291D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Rodzaje</a:t>
            </a:r>
            <a:r>
              <a:rPr lang="en-US" dirty="0"/>
              <a:t> </a:t>
            </a:r>
            <a:r>
              <a:rPr lang="en-US" dirty="0" err="1"/>
              <a:t>soczewek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0BE0-CBC6-3926-4C65-E91C8500F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Dwuwypukłe</a:t>
            </a:r>
          </a:p>
          <a:p>
            <a:r>
              <a:rPr lang="en-US" dirty="0" err="1"/>
              <a:t>Dwuwklęsłe</a:t>
            </a:r>
          </a:p>
          <a:p>
            <a:r>
              <a:rPr lang="en-US" dirty="0" err="1"/>
              <a:t>Płasko-wypukłe</a:t>
            </a:r>
          </a:p>
          <a:p>
            <a:r>
              <a:rPr lang="en-US" dirty="0" err="1"/>
              <a:t>Płasko-wklęsłe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9262-DDF2-0BB1-F095-1C63DDD8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2A33D-F55D-4096-93FE-DF2BBB2F76B5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3E36B-EFEE-3C36-378B-8EC19CC4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F4D3-41A8-5182-2589-08B2F53D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5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371A-C2DB-B692-DEF6-B4D21FB0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Soczewka</a:t>
            </a:r>
            <a:r>
              <a:rPr lang="en-US" dirty="0"/>
              <a:t> </a:t>
            </a:r>
            <a:r>
              <a:rPr lang="en-US" dirty="0" err="1"/>
              <a:t>dwuwypukła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950D-6E14-20AB-57E0-9AC04C169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Dwa</a:t>
            </a:r>
            <a:r>
              <a:rPr lang="en-US" dirty="0"/>
              <a:t> </a:t>
            </a:r>
            <a:r>
              <a:rPr lang="en-US" dirty="0" err="1"/>
              <a:t>przecinające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okręgi</a:t>
            </a:r>
            <a:r>
              <a:rPr lang="en-US" dirty="0"/>
              <a:t>: (x – x</a:t>
            </a:r>
            <a:r>
              <a:rPr lang="en-US" baseline="-25000" dirty="0"/>
              <a:t>i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 + z</a:t>
            </a:r>
            <a:r>
              <a:rPr lang="en-US" baseline="30000" dirty="0"/>
              <a:t>2</a:t>
            </a:r>
            <a:r>
              <a:rPr lang="en-US" dirty="0"/>
              <a:t> = R</a:t>
            </a:r>
            <a:r>
              <a:rPr lang="en-US" baseline="-25000" dirty="0"/>
              <a:t>i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r>
              <a:rPr lang="en-US" dirty="0"/>
              <a:t>Po </a:t>
            </a:r>
            <a:r>
              <a:rPr lang="en-US" dirty="0" err="1"/>
              <a:t>rozwiązaniu</a:t>
            </a:r>
            <a:r>
              <a:rPr lang="en-US" dirty="0"/>
              <a:t> </a:t>
            </a:r>
            <a:r>
              <a:rPr lang="en-US" dirty="0" err="1"/>
              <a:t>otrzymujemy</a:t>
            </a:r>
            <a:r>
              <a:rPr lang="en-US" dirty="0"/>
              <a:t> </a:t>
            </a:r>
            <a:r>
              <a:rPr lang="en-US" dirty="0" err="1"/>
              <a:t>równanie</a:t>
            </a:r>
            <a:r>
              <a:rPr lang="en-US" dirty="0"/>
              <a:t> </a:t>
            </a:r>
            <a:r>
              <a:rPr lang="en-US" dirty="0" err="1"/>
              <a:t>prostej</a:t>
            </a:r>
            <a:r>
              <a:rPr lang="en-US" dirty="0"/>
              <a:t>: x=[x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dirty="0"/>
              <a:t>-x</a:t>
            </a:r>
            <a:r>
              <a:rPr lang="en-US" baseline="-25000" dirty="0"/>
              <a:t>2</a:t>
            </a:r>
            <a:r>
              <a:rPr lang="en-US" baseline="30000" dirty="0"/>
              <a:t>2</a:t>
            </a:r>
            <a:r>
              <a:rPr lang="en-US" dirty="0"/>
              <a:t>-R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dirty="0"/>
              <a:t>+R</a:t>
            </a:r>
            <a:r>
              <a:rPr lang="en-US" baseline="-25000" dirty="0"/>
              <a:t>2</a:t>
            </a:r>
            <a:r>
              <a:rPr lang="en-US" baseline="30000" dirty="0"/>
              <a:t>2</a:t>
            </a:r>
            <a:r>
              <a:rPr lang="en-US" dirty="0"/>
              <a:t>]/[2(x</a:t>
            </a:r>
            <a:r>
              <a:rPr lang="en-US" baseline="-25000" dirty="0"/>
              <a:t>1</a:t>
            </a:r>
            <a:r>
              <a:rPr lang="en-US" dirty="0"/>
              <a:t>-x</a:t>
            </a:r>
            <a:r>
              <a:rPr lang="en-US" baseline="-25000" dirty="0"/>
              <a:t>2</a:t>
            </a:r>
            <a:r>
              <a:rPr lang="en-US" dirty="0"/>
              <a:t>)]</a:t>
            </a:r>
          </a:p>
          <a:p>
            <a:r>
              <a:rPr lang="en-US" dirty="0"/>
              <a:t>Musi </a:t>
            </a:r>
            <a:r>
              <a:rPr lang="en-US" dirty="0" err="1"/>
              <a:t>być</a:t>
            </a:r>
            <a:r>
              <a:rPr lang="en-US" dirty="0"/>
              <a:t> </a:t>
            </a:r>
            <a:r>
              <a:rPr lang="en-US" dirty="0" err="1"/>
              <a:t>spełniony</a:t>
            </a:r>
            <a:r>
              <a:rPr lang="en-US" dirty="0"/>
              <a:t> </a:t>
            </a:r>
            <a:r>
              <a:rPr lang="en-US" dirty="0" err="1"/>
              <a:t>warunek</a:t>
            </a:r>
            <a:r>
              <a:rPr lang="en-US" dirty="0"/>
              <a:t>: |R</a:t>
            </a:r>
            <a:r>
              <a:rPr lang="en-US" baseline="-25000" dirty="0"/>
              <a:t>1</a:t>
            </a:r>
            <a:r>
              <a:rPr lang="en-US" dirty="0"/>
              <a:t>–R</a:t>
            </a:r>
            <a:r>
              <a:rPr lang="en-US" baseline="-25000" dirty="0"/>
              <a:t>2</a:t>
            </a:r>
            <a:r>
              <a:rPr lang="en-US" dirty="0"/>
              <a:t>|&lt;|x</a:t>
            </a:r>
            <a:r>
              <a:rPr lang="en-US" baseline="-25000" dirty="0"/>
              <a:t>1</a:t>
            </a:r>
            <a:r>
              <a:rPr lang="en-US" dirty="0"/>
              <a:t>-x</a:t>
            </a:r>
            <a:r>
              <a:rPr lang="en-US" baseline="-25000" dirty="0"/>
              <a:t>2</a:t>
            </a:r>
            <a:r>
              <a:rPr lang="en-US" dirty="0"/>
              <a:t>|&lt;R</a:t>
            </a:r>
            <a:r>
              <a:rPr lang="en-US" baseline="-25000" dirty="0"/>
              <a:t>1</a:t>
            </a:r>
            <a:r>
              <a:rPr lang="en-US" dirty="0"/>
              <a:t>+R</a:t>
            </a:r>
            <a:r>
              <a:rPr lang="en-US" baseline="-25000" dirty="0"/>
              <a:t>2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33D1D-FB23-5F6B-890C-511F5CEF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AF039-2E6B-4804-AC9E-C84AAA8C172C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2C2A-CD30-CFDE-D997-09C95E39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9F42-9BD8-FC9D-F467-FDF41109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150CB-3767-5502-1F62-A556E44B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29" t="24462" r="5722" b="13172"/>
          <a:stretch>
            <a:fillRect/>
          </a:stretch>
        </p:blipFill>
        <p:spPr>
          <a:xfrm>
            <a:off x="7343696" y="453570"/>
            <a:ext cx="2884071" cy="210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5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4546-F36A-176B-D0CB-899518B6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Soczewka</a:t>
            </a:r>
            <a:r>
              <a:rPr lang="en-US" dirty="0"/>
              <a:t> </a:t>
            </a:r>
            <a:r>
              <a:rPr lang="en-US" dirty="0" err="1"/>
              <a:t>dwuwklęsła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77BC4-D929-D77E-A817-599637834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Dwa</a:t>
            </a:r>
            <a:r>
              <a:rPr lang="en-US" dirty="0"/>
              <a:t> </a:t>
            </a:r>
            <a:r>
              <a:rPr lang="en-US" dirty="0" err="1"/>
              <a:t>okręgi</a:t>
            </a:r>
            <a:r>
              <a:rPr lang="en-US" dirty="0"/>
              <a:t> </a:t>
            </a:r>
            <a:r>
              <a:rPr lang="en-US" u="sng" dirty="0" err="1"/>
              <a:t>nie</a:t>
            </a:r>
            <a:r>
              <a:rPr lang="en-US" dirty="0"/>
              <a:t> </a:t>
            </a:r>
            <a:r>
              <a:rPr lang="en-US" dirty="0" err="1"/>
              <a:t>przecinające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, </a:t>
            </a:r>
            <a:r>
              <a:rPr lang="en-US" dirty="0" err="1"/>
              <a:t>ograniczone</a:t>
            </a:r>
            <a:r>
              <a:rPr lang="en-US" dirty="0"/>
              <a:t> </a:t>
            </a:r>
            <a:r>
              <a:rPr lang="en-US" dirty="0" err="1"/>
              <a:t>dwiema</a:t>
            </a:r>
            <a:r>
              <a:rPr lang="en-US" dirty="0"/>
              <a:t> </a:t>
            </a:r>
            <a:r>
              <a:rPr lang="en-US" dirty="0" err="1"/>
              <a:t>prostymi</a:t>
            </a:r>
            <a:r>
              <a:rPr lang="en-US" dirty="0"/>
              <a:t>: z=±a, </a:t>
            </a:r>
            <a:r>
              <a:rPr lang="en-US" dirty="0" err="1"/>
              <a:t>gdzie</a:t>
            </a:r>
            <a:r>
              <a:rPr lang="en-US" dirty="0"/>
              <a:t> a – </a:t>
            </a:r>
            <a:r>
              <a:rPr lang="en-US" dirty="0" err="1"/>
              <a:t>apartura</a:t>
            </a:r>
            <a:endParaRPr lang="en-US" dirty="0"/>
          </a:p>
          <a:p>
            <a:r>
              <a:rPr lang="en-US" dirty="0" err="1"/>
              <a:t>Równanie</a:t>
            </a:r>
            <a:r>
              <a:rPr lang="en-US" dirty="0"/>
              <a:t> </a:t>
            </a:r>
            <a:r>
              <a:rPr lang="en-US" dirty="0" err="1"/>
              <a:t>prostej</a:t>
            </a:r>
            <a:r>
              <a:rPr lang="en-US" dirty="0"/>
              <a:t>: x=[x</a:t>
            </a:r>
            <a:r>
              <a:rPr lang="en-US" sz="1300" baseline="-25000" dirty="0"/>
              <a:t>1</a:t>
            </a:r>
            <a:r>
              <a:rPr lang="en-US" sz="1300" baseline="30000" dirty="0"/>
              <a:t>2</a:t>
            </a:r>
            <a:r>
              <a:rPr lang="en-US" dirty="0"/>
              <a:t>-x</a:t>
            </a:r>
            <a:r>
              <a:rPr lang="en-US" sz="1300" baseline="-25000" dirty="0"/>
              <a:t>2</a:t>
            </a:r>
            <a:r>
              <a:rPr lang="en-US" sz="1300" baseline="30000" dirty="0"/>
              <a:t>2</a:t>
            </a:r>
            <a:r>
              <a:rPr lang="en-US" dirty="0"/>
              <a:t>-R</a:t>
            </a:r>
            <a:r>
              <a:rPr lang="en-US" sz="1300" baseline="-25000" dirty="0"/>
              <a:t>1</a:t>
            </a:r>
            <a:r>
              <a:rPr lang="en-US" sz="1300" baseline="30000" dirty="0"/>
              <a:t>2</a:t>
            </a:r>
            <a:r>
              <a:rPr lang="en-US" dirty="0"/>
              <a:t>+R</a:t>
            </a:r>
            <a:r>
              <a:rPr lang="en-US" sz="1300" baseline="-25000" dirty="0"/>
              <a:t>2</a:t>
            </a:r>
            <a:r>
              <a:rPr lang="en-US" sz="1300" baseline="30000" dirty="0"/>
              <a:t>2</a:t>
            </a:r>
            <a:r>
              <a:rPr lang="en-US" dirty="0"/>
              <a:t>]/[2(x</a:t>
            </a:r>
            <a:r>
              <a:rPr lang="en-US" sz="1300" baseline="-25000" dirty="0"/>
              <a:t>1</a:t>
            </a:r>
            <a:r>
              <a:rPr lang="en-US" dirty="0"/>
              <a:t>-x</a:t>
            </a:r>
            <a:r>
              <a:rPr lang="en-US" sz="1300" baseline="-25000" dirty="0"/>
              <a:t>2</a:t>
            </a:r>
            <a:r>
              <a:rPr lang="en-US" dirty="0"/>
              <a:t>)]</a:t>
            </a:r>
          </a:p>
          <a:p>
            <a:r>
              <a:rPr lang="en-US" dirty="0"/>
              <a:t>Musi </a:t>
            </a:r>
            <a:r>
              <a:rPr lang="en-US" err="1"/>
              <a:t>być</a:t>
            </a:r>
            <a:r>
              <a:rPr lang="en-US" dirty="0"/>
              <a:t> </a:t>
            </a:r>
            <a:r>
              <a:rPr lang="en-US" err="1"/>
              <a:t>spełniony</a:t>
            </a:r>
            <a:r>
              <a:rPr lang="en-US" dirty="0"/>
              <a:t> </a:t>
            </a:r>
            <a:r>
              <a:rPr lang="en-US" err="1"/>
              <a:t>warunek</a:t>
            </a:r>
            <a:r>
              <a:rPr lang="en-US" dirty="0"/>
              <a:t>: |x</a:t>
            </a:r>
            <a:r>
              <a:rPr lang="en-US" baseline="-25000" dirty="0"/>
              <a:t>1</a:t>
            </a:r>
            <a:r>
              <a:rPr lang="en-US" dirty="0"/>
              <a:t>-x</a:t>
            </a:r>
            <a:r>
              <a:rPr lang="en-US" baseline="-25000" dirty="0"/>
              <a:t>2</a:t>
            </a:r>
            <a:r>
              <a:rPr lang="en-US" dirty="0"/>
              <a:t>|&gt;R</a:t>
            </a:r>
            <a:r>
              <a:rPr lang="en-US" baseline="-25000" dirty="0"/>
              <a:t>1</a:t>
            </a:r>
            <a:r>
              <a:rPr lang="en-US" dirty="0"/>
              <a:t>+R</a:t>
            </a:r>
            <a:r>
              <a:rPr lang="en-US" baseline="-25000" dirty="0"/>
              <a:t>2</a:t>
            </a:r>
            <a:r>
              <a:rPr lang="en-US" dirty="0"/>
              <a:t>ads</a:t>
            </a:r>
            <a:endParaRPr lang="en-US" baseline="-25000" dirty="0"/>
          </a:p>
          <a:p>
            <a:r>
              <a:rPr lang="en-US" dirty="0" err="1"/>
              <a:t>Dodatkowo</a:t>
            </a:r>
            <a:r>
              <a:rPr lang="en-US" dirty="0"/>
              <a:t> </a:t>
            </a:r>
            <a:r>
              <a:rPr lang="en-US" dirty="0" err="1"/>
              <a:t>ograniczenie</a:t>
            </a:r>
            <a:r>
              <a:rPr lang="en-US" dirty="0"/>
              <a:t> z </a:t>
            </a:r>
            <a:r>
              <a:rPr lang="en-US" dirty="0" err="1"/>
              <a:t>lewej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prawej</a:t>
            </a:r>
            <a:r>
              <a:rPr lang="en-US" dirty="0"/>
              <a:t>: </a:t>
            </a:r>
            <a:endParaRPr lang="en-US" sz="1200" dirty="0">
              <a:solidFill>
                <a:srgbClr val="E6E8F0"/>
              </a:solidFill>
              <a:highlight>
                <a:srgbClr val="1F1F1F"/>
              </a:highlight>
            </a:endParaRPr>
          </a:p>
          <a:p>
            <a:pPr marL="0" indent="0">
              <a:buNone/>
            </a:pPr>
            <a:r>
              <a:rPr lang="en-US" dirty="0"/>
              <a:t>x=x</a:t>
            </a:r>
            <a:r>
              <a:rPr lang="en-US" baseline="-25000" dirty="0"/>
              <a:t>2</a:t>
            </a:r>
            <a:r>
              <a:rPr lang="en-US" dirty="0"/>
              <a:t>+sqrt(R</a:t>
            </a:r>
            <a:r>
              <a:rPr lang="en-US" baseline="-25000" dirty="0"/>
              <a:t>2</a:t>
            </a:r>
            <a:r>
              <a:rPr lang="en-US" baseline="30000" dirty="0"/>
              <a:t>2</a:t>
            </a:r>
            <a:r>
              <a:rPr lang="en-US" dirty="0"/>
              <a:t>-a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US" sz="1200" dirty="0">
              <a:solidFill>
                <a:srgbClr val="E6E8F0"/>
              </a:solidFill>
              <a:highlight>
                <a:srgbClr val="1F1F1F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/>
              <a:t>x=x</a:t>
            </a:r>
            <a:r>
              <a:rPr lang="en-US" baseline="-25000" dirty="0"/>
              <a:t>1</a:t>
            </a:r>
            <a:r>
              <a:rPr lang="en-US" dirty="0"/>
              <a:t>-sqrt(R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dirty="0"/>
              <a:t>-a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130C-F048-FF6B-F12D-ECC698E9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2B938-EED5-49C8-9088-991CB2966992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EA0F-A015-9113-8483-FE1FE743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1939-0FF5-3064-208A-D40235C8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81EBA5-59B1-7F23-9092-CECACDCA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5" t="613" r="15344" b="13525"/>
          <a:stretch>
            <a:fillRect/>
          </a:stretch>
        </p:blipFill>
        <p:spPr>
          <a:xfrm>
            <a:off x="8186905" y="3428999"/>
            <a:ext cx="2612837" cy="29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7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4C75-09EF-B6C7-F67A-A78A36C3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Soczewka</a:t>
            </a:r>
            <a:r>
              <a:rPr lang="en-US" dirty="0"/>
              <a:t> </a:t>
            </a:r>
            <a:r>
              <a:rPr lang="en-US" dirty="0" err="1"/>
              <a:t>płasko-wypukła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8CFA5-7C16-2BEB-8EF8-EC5D85FB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Jeden </a:t>
            </a:r>
            <a:r>
              <a:rPr lang="en-US" dirty="0" err="1"/>
              <a:t>okrąg</a:t>
            </a:r>
            <a:r>
              <a:rPr lang="en-US" dirty="0"/>
              <a:t>: (x – x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z</a:t>
            </a:r>
            <a:r>
              <a:rPr lang="en-US" baseline="30000" dirty="0"/>
              <a:t>2</a:t>
            </a:r>
            <a:r>
              <a:rPr lang="en-US" dirty="0"/>
              <a:t> = R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ograniczony</a:t>
            </a:r>
            <a:r>
              <a:rPr lang="en-US" dirty="0"/>
              <a:t> </a:t>
            </a:r>
            <a:r>
              <a:rPr lang="en-US" dirty="0" err="1"/>
              <a:t>jedną</a:t>
            </a:r>
            <a:r>
              <a:rPr lang="en-US" dirty="0"/>
              <a:t> </a:t>
            </a:r>
            <a:r>
              <a:rPr lang="en-US" dirty="0" err="1"/>
              <a:t>prostą</a:t>
            </a:r>
            <a:r>
              <a:rPr lang="en-US" dirty="0"/>
              <a:t>: x=u</a:t>
            </a:r>
          </a:p>
          <a:p>
            <a:r>
              <a:rPr lang="en-US" err="1"/>
              <a:t>Gdzie</a:t>
            </a:r>
            <a:r>
              <a:rPr lang="en-US" dirty="0"/>
              <a:t> </a:t>
            </a:r>
            <a:r>
              <a:rPr lang="en-US" err="1"/>
              <a:t>spełniony</a:t>
            </a:r>
            <a:r>
              <a:rPr lang="en-US" dirty="0"/>
              <a:t> jest </a:t>
            </a:r>
            <a:r>
              <a:rPr lang="en-US" err="1"/>
              <a:t>warunek</a:t>
            </a:r>
            <a:r>
              <a:rPr lang="en-US" dirty="0"/>
              <a:t>: x</a:t>
            </a:r>
            <a:r>
              <a:rPr lang="en-US" baseline="-25000" dirty="0"/>
              <a:t>1</a:t>
            </a:r>
            <a:r>
              <a:rPr lang="en-US" dirty="0"/>
              <a:t>-R</a:t>
            </a:r>
            <a:r>
              <a:rPr lang="en-US" baseline="-25000" dirty="0"/>
              <a:t>1</a:t>
            </a:r>
            <a:r>
              <a:rPr lang="en-US" dirty="0"/>
              <a:t>&lt;a&lt;x</a:t>
            </a:r>
            <a:r>
              <a:rPr lang="en-US" baseline="-25000" dirty="0"/>
              <a:t>1</a:t>
            </a:r>
            <a:r>
              <a:rPr lang="en-US" dirty="0"/>
              <a:t>+R</a:t>
            </a:r>
            <a:r>
              <a:rPr lang="en-US" baseline="-25000" dirty="0"/>
              <a:t>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85496-BA30-1698-5963-90988D81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E88E-0754-4F82-B340-22471318B0E5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A8AC3-6CE1-5009-5F2F-33F7432A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46169-6FC7-8F0C-1A34-5E3135A9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13FFC-A971-51C2-EBDE-133A80BB2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44" t="16000" r="27778" b="15467"/>
          <a:stretch>
            <a:fillRect/>
          </a:stretch>
        </p:blipFill>
        <p:spPr>
          <a:xfrm>
            <a:off x="8444721" y="3429000"/>
            <a:ext cx="2363373" cy="284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00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CE2B-4689-C957-324D-E4A34A3D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Soczewka</a:t>
            </a:r>
            <a:r>
              <a:rPr lang="en-US" dirty="0"/>
              <a:t> </a:t>
            </a:r>
            <a:r>
              <a:rPr lang="en-US" dirty="0" err="1"/>
              <a:t>płasko-wklęsła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1386-A8CA-7D31-796F-D43C44671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Jeden </a:t>
            </a:r>
            <a:r>
              <a:rPr lang="en-US" err="1"/>
              <a:t>okrąg</a:t>
            </a:r>
            <a:r>
              <a:rPr lang="en-US" dirty="0"/>
              <a:t> (x – x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 + z</a:t>
            </a:r>
            <a:r>
              <a:rPr lang="en-US" baseline="30000" dirty="0"/>
              <a:t>2</a:t>
            </a:r>
            <a:r>
              <a:rPr lang="en-US" dirty="0"/>
              <a:t> = R</a:t>
            </a:r>
            <a:r>
              <a:rPr lang="en-US" baseline="-25000" dirty="0"/>
              <a:t>2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err="1"/>
              <a:t>aaa</a:t>
            </a:r>
            <a:r>
              <a:rPr lang="en-US" dirty="0"/>
              <a:t> </a:t>
            </a:r>
            <a:r>
              <a:rPr lang="en-US" err="1"/>
              <a:t>ograniczony</a:t>
            </a:r>
            <a:r>
              <a:rPr lang="en-US" dirty="0"/>
              <a:t> </a:t>
            </a:r>
            <a:r>
              <a:rPr lang="en-US" err="1"/>
              <a:t>prostą</a:t>
            </a:r>
            <a:r>
              <a:rPr lang="en-US" dirty="0"/>
              <a:t>: x=x</a:t>
            </a:r>
            <a:r>
              <a:rPr lang="en-US" baseline="-25000" dirty="0"/>
              <a:t>2</a:t>
            </a:r>
            <a:r>
              <a:rPr lang="en-US" dirty="0"/>
              <a:t>+R</a:t>
            </a:r>
            <a:r>
              <a:rPr lang="en-US" baseline="-25000" dirty="0"/>
              <a:t>2</a:t>
            </a:r>
            <a:r>
              <a:rPr lang="en-US" dirty="0"/>
              <a:t>+a/2 </a:t>
            </a:r>
          </a:p>
          <a:p>
            <a:r>
              <a:rPr lang="en-US" dirty="0" err="1"/>
              <a:t>Dodatkowo</a:t>
            </a:r>
            <a:r>
              <a:rPr lang="en-US" dirty="0"/>
              <a:t> </a:t>
            </a:r>
            <a:r>
              <a:rPr lang="en-US" dirty="0" err="1"/>
              <a:t>ograniczony</a:t>
            </a:r>
            <a:r>
              <a:rPr lang="en-US" dirty="0"/>
              <a:t> jest </a:t>
            </a:r>
            <a:r>
              <a:rPr lang="en-US" dirty="0" err="1"/>
              <a:t>dwiema</a:t>
            </a:r>
            <a:r>
              <a:rPr lang="en-US" dirty="0"/>
              <a:t> </a:t>
            </a:r>
            <a:r>
              <a:rPr lang="en-US" dirty="0" err="1"/>
              <a:t>prostymi</a:t>
            </a:r>
            <a:r>
              <a:rPr lang="en-US" dirty="0"/>
              <a:t>: y=±a, </a:t>
            </a:r>
            <a:r>
              <a:rPr lang="en-US" dirty="0" err="1"/>
              <a:t>gdzie</a:t>
            </a:r>
            <a:r>
              <a:rPr lang="en-US" dirty="0"/>
              <a:t> a – </a:t>
            </a:r>
            <a:r>
              <a:rPr lang="en-US" dirty="0" err="1"/>
              <a:t>apartura</a:t>
            </a:r>
          </a:p>
          <a:p>
            <a:r>
              <a:rPr lang="en-US" err="1"/>
              <a:t>Spełniona</a:t>
            </a:r>
            <a:r>
              <a:rPr lang="en-US" dirty="0"/>
              <a:t> jest </a:t>
            </a:r>
            <a:r>
              <a:rPr lang="en-US" err="1"/>
              <a:t>zależność</a:t>
            </a:r>
            <a:r>
              <a:rPr lang="en-US" dirty="0"/>
              <a:t>: 0&lt;a&lt;R</a:t>
            </a:r>
            <a:r>
              <a:rPr lang="en-US" baseline="-25000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C999-1A44-388B-5253-81FCE752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0DFF-12EF-43C6-BF11-FE0088299EC0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44288-9CAF-8B3A-B9BC-67173A7C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070E5-3E06-4E42-EB82-6D429D1B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44CB7-53DB-C55C-6022-3540F976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74" t="11988" r="12397" b="15205"/>
          <a:stretch>
            <a:fillRect/>
          </a:stretch>
        </p:blipFill>
        <p:spPr>
          <a:xfrm>
            <a:off x="8749772" y="3891643"/>
            <a:ext cx="2427008" cy="2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4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5841-E2A2-5EC7-DF14-3D2E4DC0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Promień</a:t>
            </a:r>
            <a:r>
              <a:rPr lang="en-US" dirty="0"/>
              <a:t> </a:t>
            </a:r>
            <a:r>
              <a:rPr lang="en-US" dirty="0" err="1"/>
              <a:t>świetlny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71D2-831E-4FC5-09CE-CA5DEEAC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Trzy</a:t>
            </a:r>
            <a:r>
              <a:rPr lang="en-US" dirty="0"/>
              <a:t> </a:t>
            </a:r>
            <a:r>
              <a:rPr lang="en-US" dirty="0" err="1"/>
              <a:t>etapy</a:t>
            </a:r>
            <a:r>
              <a:rPr lang="en-US" dirty="0"/>
              <a:t> </a:t>
            </a:r>
            <a:r>
              <a:rPr lang="en-US" dirty="0" err="1"/>
              <a:t>przebiegu</a:t>
            </a:r>
            <a:r>
              <a:rPr lang="en-US" dirty="0"/>
              <a:t> </a:t>
            </a:r>
            <a:r>
              <a:rPr lang="en-US" dirty="0" err="1"/>
              <a:t>promienia</a:t>
            </a:r>
            <a:r>
              <a:rPr lang="en-US" dirty="0"/>
              <a:t>: </a:t>
            </a:r>
          </a:p>
          <a:p>
            <a:r>
              <a:rPr lang="en-US" dirty="0"/>
              <a:t>Od </a:t>
            </a:r>
            <a:r>
              <a:rPr lang="en-US" err="1"/>
              <a:t>punktu</a:t>
            </a:r>
            <a:r>
              <a:rPr lang="en-US" dirty="0"/>
              <a:t> </a:t>
            </a:r>
            <a:r>
              <a:rPr lang="en-US" err="1"/>
              <a:t>startowego</a:t>
            </a:r>
            <a:r>
              <a:rPr lang="en-US" dirty="0"/>
              <a:t> (x</a:t>
            </a:r>
            <a:r>
              <a:rPr lang="en-US" baseline="-25000" dirty="0"/>
              <a:t>0</a:t>
            </a:r>
            <a:r>
              <a:rPr lang="en-US" dirty="0"/>
              <a:t>, z</a:t>
            </a:r>
            <a:r>
              <a:rPr lang="en-US" baseline="-25000" dirty="0"/>
              <a:t>0</a:t>
            </a:r>
            <a:r>
              <a:rPr lang="en-US" dirty="0"/>
              <a:t>) do </a:t>
            </a:r>
            <a:r>
              <a:rPr lang="en-US" err="1"/>
              <a:t>wejścia</a:t>
            </a:r>
            <a:r>
              <a:rPr lang="en-US" dirty="0"/>
              <a:t> </a:t>
            </a:r>
            <a:r>
              <a:rPr lang="en-US" err="1"/>
              <a:t>promienia</a:t>
            </a:r>
            <a:r>
              <a:rPr lang="en-US" dirty="0"/>
              <a:t> do </a:t>
            </a:r>
            <a:r>
              <a:rPr lang="en-US" err="1"/>
              <a:t>soczewki</a:t>
            </a:r>
            <a:r>
              <a:rPr lang="en-US" dirty="0"/>
              <a:t> (</a:t>
            </a:r>
            <a:r>
              <a:rPr lang="en-US" err="1"/>
              <a:t>x</a:t>
            </a:r>
            <a:r>
              <a:rPr lang="en-US" baseline="-25000" err="1"/>
              <a:t>p</a:t>
            </a:r>
            <a:r>
              <a:rPr lang="en-US" dirty="0"/>
              <a:t>, </a:t>
            </a:r>
            <a:r>
              <a:rPr lang="en-US" err="1"/>
              <a:t>z</a:t>
            </a:r>
            <a:r>
              <a:rPr lang="en-US" baseline="-25000" err="1"/>
              <a:t>p</a:t>
            </a:r>
            <a:r>
              <a:rPr lang="en-US" dirty="0"/>
              <a:t>)</a:t>
            </a:r>
          </a:p>
          <a:p>
            <a:r>
              <a:rPr lang="en-US" dirty="0" err="1"/>
              <a:t>Załamanie</a:t>
            </a:r>
            <a:r>
              <a:rPr lang="en-US" dirty="0"/>
              <a:t> </a:t>
            </a:r>
            <a:r>
              <a:rPr lang="en-US" dirty="0" err="1"/>
              <a:t>wewnątrz</a:t>
            </a:r>
            <a:r>
              <a:rPr lang="en-US" dirty="0"/>
              <a:t> </a:t>
            </a:r>
            <a:r>
              <a:rPr lang="en-US" dirty="0" err="1"/>
              <a:t>soczewki</a:t>
            </a:r>
            <a:endParaRPr lang="en-US" dirty="0"/>
          </a:p>
          <a:p>
            <a:r>
              <a:rPr lang="en-US" dirty="0" err="1"/>
              <a:t>Wyjście</a:t>
            </a:r>
            <a:r>
              <a:rPr lang="en-US" dirty="0"/>
              <a:t> z </a:t>
            </a:r>
            <a:r>
              <a:rPr lang="en-US" dirty="0" err="1"/>
              <a:t>soczewki</a:t>
            </a:r>
            <a:r>
              <a:rPr lang="en-US" dirty="0"/>
              <a:t> z </a:t>
            </a:r>
            <a:r>
              <a:rPr lang="en-US" dirty="0" err="1"/>
              <a:t>ponownym</a:t>
            </a:r>
            <a:r>
              <a:rPr lang="en-US" dirty="0"/>
              <a:t> </a:t>
            </a:r>
            <a:r>
              <a:rPr lang="en-US" dirty="0" err="1"/>
              <a:t>załamaniem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1E301-0922-6139-8739-25FC94D9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29DD-FE1B-4B65-ADC2-3170957F2863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CF439-C790-7236-DA89-5BE735C8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6BD38-F639-CBA7-8467-FCDBC834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10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5E2-4E6E-C7D0-4BA8-DB8F614E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Promień</a:t>
            </a:r>
            <a:r>
              <a:rPr lang="en-US" dirty="0"/>
              <a:t> </a:t>
            </a:r>
            <a:r>
              <a:rPr lang="en-US" dirty="0" err="1"/>
              <a:t>świetlny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4B4B-5F0D-B9C2-13A0-9189049F3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Kierunek</a:t>
            </a:r>
            <a:r>
              <a:rPr lang="en-US" dirty="0"/>
              <a:t> </a:t>
            </a:r>
            <a:r>
              <a:rPr lang="en-US" dirty="0" err="1"/>
              <a:t>przebiegu</a:t>
            </a:r>
            <a:r>
              <a:rPr lang="en-US" dirty="0"/>
              <a:t> </a:t>
            </a:r>
            <a:r>
              <a:rPr lang="en-US" dirty="0" err="1"/>
              <a:t>promienia</a:t>
            </a:r>
            <a:r>
              <a:rPr lang="en-US" dirty="0"/>
              <a:t>, </a:t>
            </a:r>
            <a:r>
              <a:rPr lang="en-US" dirty="0" err="1"/>
              <a:t>początkowo</a:t>
            </a:r>
            <a:r>
              <a:rPr lang="en-US" dirty="0"/>
              <a:t>: </a:t>
            </a:r>
            <a:r>
              <a:rPr lang="en-US" b="1" dirty="0"/>
              <a:t>k</a:t>
            </a:r>
            <a:r>
              <a:rPr lang="en-US" dirty="0"/>
              <a:t>=[1,0]</a:t>
            </a:r>
          </a:p>
          <a:p>
            <a:r>
              <a:rPr lang="en-US" dirty="0" err="1"/>
              <a:t>Wektor</a:t>
            </a:r>
            <a:r>
              <a:rPr lang="en-US" dirty="0"/>
              <a:t> </a:t>
            </a:r>
            <a:r>
              <a:rPr lang="en-US" dirty="0" err="1"/>
              <a:t>normalny</a:t>
            </a:r>
            <a:r>
              <a:rPr lang="en-US" dirty="0"/>
              <a:t> </a:t>
            </a:r>
            <a:r>
              <a:rPr lang="en-US" dirty="0" err="1"/>
              <a:t>okręgu</a:t>
            </a:r>
            <a:r>
              <a:rPr lang="en-US" dirty="0"/>
              <a:t>: </a:t>
            </a:r>
            <a:r>
              <a:rPr lang="en-US" b="1" dirty="0"/>
              <a:t>n</a:t>
            </a:r>
            <a:r>
              <a:rPr lang="en-US" dirty="0"/>
              <a:t>=</a:t>
            </a:r>
            <a:r>
              <a:rPr lang="en-US" b="1" dirty="0"/>
              <a:t>r</a:t>
            </a:r>
            <a:r>
              <a:rPr lang="en-US" dirty="0"/>
              <a:t>-</a:t>
            </a:r>
            <a:r>
              <a:rPr lang="en-US" b="1" dirty="0" err="1"/>
              <a:t>r</a:t>
            </a:r>
            <a:r>
              <a:rPr lang="en-US" baseline="-25000" dirty="0" err="1"/>
              <a:t>środek</a:t>
            </a:r>
            <a:r>
              <a:rPr lang="en-US" dirty="0"/>
              <a:t>/|</a:t>
            </a:r>
            <a:r>
              <a:rPr lang="en-US" b="1" dirty="0"/>
              <a:t>r</a:t>
            </a:r>
            <a:r>
              <a:rPr lang="en-US" dirty="0"/>
              <a:t>-</a:t>
            </a:r>
            <a:r>
              <a:rPr lang="en-US" b="1" dirty="0" err="1"/>
              <a:t>r</a:t>
            </a:r>
            <a:r>
              <a:rPr lang="en-US" baseline="-25000" dirty="0" err="1"/>
              <a:t>środek</a:t>
            </a:r>
            <a:r>
              <a:rPr lang="en-US" dirty="0"/>
              <a:t>| = (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-x</a:t>
            </a:r>
            <a:r>
              <a:rPr lang="en-US" baseline="-25000" dirty="0"/>
              <a:t>c</a:t>
            </a:r>
            <a:r>
              <a:rPr lang="en-US" dirty="0"/>
              <a:t>, </a:t>
            </a:r>
            <a:r>
              <a:rPr lang="en-US" dirty="0" err="1"/>
              <a:t>z</a:t>
            </a:r>
            <a:r>
              <a:rPr lang="en-US" baseline="-25000" dirty="0" err="1"/>
              <a:t>p</a:t>
            </a:r>
            <a:r>
              <a:rPr lang="en-US" dirty="0"/>
              <a:t>)/R, </a:t>
            </a:r>
            <a:r>
              <a:rPr lang="en-US" dirty="0" err="1"/>
              <a:t>gdzie</a:t>
            </a:r>
            <a:r>
              <a:rPr lang="en-US" dirty="0"/>
              <a:t> R - </a:t>
            </a:r>
            <a:r>
              <a:rPr lang="en-US" dirty="0" err="1"/>
              <a:t>promień</a:t>
            </a:r>
            <a:r>
              <a:rPr lang="en-US" dirty="0"/>
              <a:t> </a:t>
            </a:r>
            <a:r>
              <a:rPr lang="en-US" dirty="0" err="1"/>
              <a:t>okręgu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który</a:t>
            </a:r>
            <a:r>
              <a:rPr lang="en-US" dirty="0"/>
              <a:t> pada </a:t>
            </a:r>
            <a:r>
              <a:rPr lang="en-US" dirty="0" err="1"/>
              <a:t>promień</a:t>
            </a:r>
            <a:r>
              <a:rPr lang="en-US" dirty="0"/>
              <a:t>, x</a:t>
            </a:r>
            <a:r>
              <a:rPr lang="en-US" baseline="-25000" dirty="0"/>
              <a:t>c</a:t>
            </a:r>
            <a:r>
              <a:rPr lang="en-US" dirty="0"/>
              <a:t> - </a:t>
            </a:r>
            <a:r>
              <a:rPr lang="en-US" dirty="0" err="1"/>
              <a:t>współrzędna</a:t>
            </a:r>
            <a:r>
              <a:rPr lang="en-US" dirty="0"/>
              <a:t> </a:t>
            </a:r>
            <a:r>
              <a:rPr lang="en-US" dirty="0" err="1"/>
              <a:t>tego</a:t>
            </a:r>
            <a:r>
              <a:rPr lang="en-US" dirty="0"/>
              <a:t>  </a:t>
            </a:r>
            <a:r>
              <a:rPr lang="en-US" dirty="0" err="1"/>
              <a:t>okręgu</a:t>
            </a:r>
            <a:endParaRPr lang="en-US" dirty="0"/>
          </a:p>
          <a:p>
            <a:r>
              <a:rPr lang="en-US" err="1"/>
              <a:t>Prawo</a:t>
            </a:r>
            <a:r>
              <a:rPr lang="en-US" dirty="0"/>
              <a:t> </a:t>
            </a:r>
            <a:r>
              <a:rPr lang="en-US" err="1"/>
              <a:t>Snella</a:t>
            </a:r>
            <a:r>
              <a:rPr lang="en-US" dirty="0"/>
              <a:t>: n</a:t>
            </a:r>
            <a:r>
              <a:rPr lang="en-US" baseline="-25000" dirty="0"/>
              <a:t>1</a:t>
            </a:r>
            <a:r>
              <a:rPr lang="en-US" dirty="0"/>
              <a:t>sin(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α</a:t>
            </a:r>
            <a:r>
              <a:rPr lang="en-US" baseline="-25000" dirty="0">
                <a:solidFill>
                  <a:srgbClr val="000000"/>
                </a:solidFill>
                <a:ea typeface="+mn-lt"/>
                <a:cs typeface="+mn-lt"/>
              </a:rPr>
              <a:t>1</a:t>
            </a:r>
            <a:r>
              <a:rPr lang="en-US" dirty="0"/>
              <a:t>) = n</a:t>
            </a:r>
            <a:r>
              <a:rPr lang="en-US" baseline="-25000" dirty="0"/>
              <a:t>2</a:t>
            </a:r>
            <a:r>
              <a:rPr lang="en-US" dirty="0"/>
              <a:t>sin(α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r>
              <a:rPr lang="en-US" dirty="0" err="1"/>
              <a:t>Równanie</a:t>
            </a:r>
            <a:r>
              <a:rPr lang="en-US" dirty="0"/>
              <a:t> </a:t>
            </a:r>
            <a:r>
              <a:rPr lang="en-US" dirty="0" err="1"/>
              <a:t>parametryczne</a:t>
            </a:r>
            <a:r>
              <a:rPr lang="en-US" dirty="0"/>
              <a:t>: </a:t>
            </a:r>
            <a:r>
              <a:rPr lang="en-US" b="1" dirty="0"/>
              <a:t>r</a:t>
            </a:r>
            <a:r>
              <a:rPr lang="en-US" dirty="0"/>
              <a:t>(t) = </a:t>
            </a:r>
            <a:r>
              <a:rPr lang="en-US" b="1" dirty="0"/>
              <a:t>r</a:t>
            </a:r>
            <a:r>
              <a:rPr lang="en-US" baseline="-25000" dirty="0"/>
              <a:t>0</a:t>
            </a:r>
            <a:r>
              <a:rPr lang="en-US" dirty="0"/>
              <a:t>+t</a:t>
            </a:r>
            <a:r>
              <a:rPr lang="en-US" b="1" dirty="0"/>
              <a:t>k</a:t>
            </a:r>
            <a:r>
              <a:rPr lang="en-US" dirty="0"/>
              <a:t>, a </a:t>
            </a:r>
            <a:r>
              <a:rPr lang="en-US" dirty="0" err="1"/>
              <a:t>składowe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x=x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en-US" dirty="0" err="1"/>
              <a:t>t•k</a:t>
            </a:r>
            <a:r>
              <a:rPr lang="en-US" baseline="-25000" dirty="0" err="1"/>
              <a:t>x</a:t>
            </a:r>
          </a:p>
          <a:p>
            <a:pPr marL="0" indent="0">
              <a:buNone/>
            </a:pPr>
            <a:r>
              <a:rPr lang="en-US" dirty="0"/>
              <a:t>z=z</a:t>
            </a:r>
            <a:r>
              <a:rPr lang="en-US" baseline="-25000" dirty="0"/>
              <a:t>0</a:t>
            </a:r>
            <a:r>
              <a:rPr lang="en-US" dirty="0"/>
              <a:t>+t•k</a:t>
            </a:r>
            <a:r>
              <a:rPr lang="en-US" baseline="-25000" dirty="0"/>
              <a:t>z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81E4B-ADCE-1EDD-E190-DE0C4B44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D8EC7-1295-48E5-B9F5-DCB11983DF71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007E-3B3F-C13D-C77F-CFA80C589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85B04-2CFB-8B74-FE96-9E1870E8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1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108F-19C6-B1EE-1E45-ACD30E03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Promień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8238B-9160-7E11-D907-22D427887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Po </a:t>
            </a:r>
            <a:r>
              <a:rPr lang="en-US" dirty="0" err="1"/>
              <a:t>podstawieniu</a:t>
            </a:r>
            <a:r>
              <a:rPr lang="en-US" dirty="0"/>
              <a:t> </a:t>
            </a:r>
            <a:r>
              <a:rPr lang="en-US" dirty="0" err="1"/>
              <a:t>składowych</a:t>
            </a:r>
            <a:r>
              <a:rPr lang="en-US" dirty="0"/>
              <a:t> </a:t>
            </a:r>
            <a:r>
              <a:rPr lang="en-US" dirty="0" err="1"/>
              <a:t>równania</a:t>
            </a:r>
            <a:r>
              <a:rPr lang="en-US" dirty="0"/>
              <a:t> </a:t>
            </a:r>
            <a:r>
              <a:rPr lang="en-US" dirty="0" err="1"/>
              <a:t>parametrycznego</a:t>
            </a:r>
            <a:r>
              <a:rPr lang="en-US" dirty="0"/>
              <a:t> do </a:t>
            </a:r>
            <a:r>
              <a:rPr lang="en-US" dirty="0" err="1"/>
              <a:t>równania</a:t>
            </a:r>
            <a:r>
              <a:rPr lang="en-US" dirty="0"/>
              <a:t> </a:t>
            </a:r>
            <a:r>
              <a:rPr lang="en-US" dirty="0" err="1"/>
              <a:t>okręgu</a:t>
            </a:r>
            <a:r>
              <a:rPr lang="en-US" dirty="0"/>
              <a:t> </a:t>
            </a:r>
            <a:r>
              <a:rPr lang="en-US" dirty="0" err="1"/>
              <a:t>otrzymujemy</a:t>
            </a:r>
            <a:r>
              <a:rPr lang="en-US" dirty="0"/>
              <a:t>: (x</a:t>
            </a:r>
            <a:r>
              <a:rPr lang="en-US" baseline="-25000" dirty="0"/>
              <a:t>0</a:t>
            </a:r>
            <a:r>
              <a:rPr lang="en-US" dirty="0"/>
              <a:t>+t•k</a:t>
            </a:r>
            <a:r>
              <a:rPr lang="en-US" baseline="-25000" dirty="0"/>
              <a:t>x</a:t>
            </a:r>
            <a:r>
              <a:rPr lang="en-US" dirty="0"/>
              <a:t>-x</a:t>
            </a:r>
            <a:r>
              <a:rPr lang="en-US" baseline="-25000" dirty="0"/>
              <a:t>c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+(z</a:t>
            </a:r>
            <a:r>
              <a:rPr lang="en-US" baseline="-25000" dirty="0"/>
              <a:t>0</a:t>
            </a:r>
            <a:r>
              <a:rPr lang="en-US" dirty="0"/>
              <a:t>+t•k</a:t>
            </a:r>
            <a:r>
              <a:rPr lang="en-US" baseline="-25000" dirty="0"/>
              <a:t>z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=R</a:t>
            </a:r>
            <a:r>
              <a:rPr lang="en-US" baseline="30000" dirty="0"/>
              <a:t>2</a:t>
            </a:r>
            <a:r>
              <a:rPr lang="en-US" dirty="0"/>
              <a:t>, </a:t>
            </a:r>
            <a:r>
              <a:rPr lang="en-US" dirty="0" err="1"/>
              <a:t>które</a:t>
            </a:r>
            <a:r>
              <a:rPr lang="en-US" dirty="0"/>
              <a:t> jest </a:t>
            </a:r>
            <a:r>
              <a:rPr lang="en-US" dirty="0" err="1"/>
              <a:t>równaniem</a:t>
            </a:r>
            <a:r>
              <a:rPr lang="en-US" dirty="0"/>
              <a:t> </a:t>
            </a:r>
            <a:r>
              <a:rPr lang="en-US" dirty="0" err="1"/>
              <a:t>kwadratowym</a:t>
            </a:r>
            <a:r>
              <a:rPr lang="en-US" dirty="0"/>
              <a:t> </a:t>
            </a:r>
            <a:r>
              <a:rPr lang="en-US" dirty="0" err="1"/>
              <a:t>względem</a:t>
            </a:r>
            <a:r>
              <a:rPr lang="en-US" dirty="0"/>
              <a:t> </a:t>
            </a:r>
            <a:r>
              <a:rPr lang="en-US" dirty="0" err="1"/>
              <a:t>parametru</a:t>
            </a:r>
            <a:r>
              <a:rPr lang="en-US" dirty="0"/>
              <a:t> t.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mamy</a:t>
            </a:r>
            <a:r>
              <a:rPr lang="en-US" dirty="0"/>
              <a:t> </a:t>
            </a:r>
            <a:r>
              <a:rPr lang="en-US" dirty="0" err="1"/>
              <a:t>dwa</a:t>
            </a:r>
            <a:r>
              <a:rPr lang="en-US" dirty="0"/>
              <a:t> </a:t>
            </a:r>
            <a:r>
              <a:rPr lang="en-US" dirty="0" err="1"/>
              <a:t>rozwiązania</a:t>
            </a:r>
            <a:r>
              <a:rPr lang="en-US" dirty="0"/>
              <a:t>, </a:t>
            </a:r>
            <a:r>
              <a:rPr lang="en-US" dirty="0" err="1"/>
              <a:t>wybieramy</a:t>
            </a:r>
            <a:r>
              <a:rPr lang="en-US" dirty="0"/>
              <a:t> </a:t>
            </a:r>
            <a:r>
              <a:rPr lang="en-US" dirty="0" err="1"/>
              <a:t>najmniejsze</a:t>
            </a:r>
            <a:r>
              <a:rPr lang="en-US" dirty="0"/>
              <a:t> </a:t>
            </a:r>
            <a:r>
              <a:rPr lang="en-US" dirty="0" err="1"/>
              <a:t>dodatnie</a:t>
            </a:r>
            <a:r>
              <a:rPr lang="en-US" dirty="0"/>
              <a:t>.</a:t>
            </a:r>
          </a:p>
          <a:p>
            <a:r>
              <a:rPr lang="en-US" err="1"/>
              <a:t>Dla</a:t>
            </a:r>
            <a:r>
              <a:rPr lang="en-US" dirty="0"/>
              <a:t> </a:t>
            </a:r>
            <a:r>
              <a:rPr lang="en-US" err="1"/>
              <a:t>promienia</a:t>
            </a:r>
            <a:r>
              <a:rPr lang="en-US" dirty="0"/>
              <a:t> </a:t>
            </a:r>
            <a:r>
              <a:rPr lang="en-US" err="1"/>
              <a:t>padającego</a:t>
            </a:r>
            <a:r>
              <a:rPr lang="en-US" dirty="0"/>
              <a:t> </a:t>
            </a:r>
            <a:r>
              <a:rPr lang="en-US" err="1"/>
              <a:t>na</a:t>
            </a:r>
            <a:r>
              <a:rPr lang="en-US" dirty="0"/>
              <a:t> </a:t>
            </a:r>
            <a:r>
              <a:rPr lang="en-US" err="1"/>
              <a:t>płaską</a:t>
            </a:r>
            <a:r>
              <a:rPr lang="en-US" dirty="0"/>
              <a:t> </a:t>
            </a:r>
            <a:r>
              <a:rPr lang="en-US" err="1"/>
              <a:t>powierzchnię</a:t>
            </a:r>
            <a:r>
              <a:rPr lang="en-US" dirty="0"/>
              <a:t> </a:t>
            </a:r>
            <a:r>
              <a:rPr lang="en-US" err="1"/>
              <a:t>mamy</a:t>
            </a:r>
            <a:r>
              <a:rPr lang="en-US" dirty="0"/>
              <a:t> </a:t>
            </a:r>
            <a:r>
              <a:rPr lang="en-US" err="1"/>
              <a:t>prostszą</a:t>
            </a:r>
            <a:r>
              <a:rPr lang="en-US" dirty="0"/>
              <a:t> </a:t>
            </a:r>
            <a:r>
              <a:rPr lang="en-US" err="1"/>
              <a:t>sytuację</a:t>
            </a:r>
            <a:r>
              <a:rPr lang="en-US" dirty="0"/>
              <a:t>: </a:t>
            </a:r>
            <a:endParaRPr lang="en-US" baseline="-25000"/>
          </a:p>
          <a:p>
            <a:pPr marL="0" indent="0">
              <a:buNone/>
            </a:pPr>
            <a:r>
              <a:rPr lang="en-US" dirty="0"/>
              <a:t> t=(x</a:t>
            </a:r>
            <a:r>
              <a:rPr lang="en-US" baseline="-25000" dirty="0"/>
              <a:t>plaszczyzny</a:t>
            </a:r>
            <a:r>
              <a:rPr lang="en-US" dirty="0"/>
              <a:t>-x</a:t>
            </a:r>
            <a:r>
              <a:rPr lang="en-US" baseline="-25000" dirty="0"/>
              <a:t>0</a:t>
            </a:r>
            <a:r>
              <a:rPr lang="en-US" dirty="0"/>
              <a:t>)/</a:t>
            </a:r>
            <a:r>
              <a:rPr lang="en-US" dirty="0" err="1"/>
              <a:t>k</a:t>
            </a:r>
            <a:r>
              <a:rPr lang="en-US" baseline="-25000" dirty="0" err="1"/>
              <a:t>x</a:t>
            </a:r>
            <a:r>
              <a:rPr lang="en-US" dirty="0"/>
              <a:t> </a:t>
            </a:r>
            <a:r>
              <a:rPr lang="en-US" dirty="0" err="1"/>
              <a:t>gdzie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baseline="-25000" dirty="0" err="1"/>
              <a:t>plaszczyzny</a:t>
            </a:r>
            <a:r>
              <a:rPr lang="en-US" dirty="0"/>
              <a:t> to </a:t>
            </a:r>
            <a:r>
              <a:rPr lang="en-US" dirty="0" err="1"/>
              <a:t>równanie</a:t>
            </a:r>
            <a:r>
              <a:rPr lang="en-US" dirty="0"/>
              <a:t> </a:t>
            </a:r>
            <a:r>
              <a:rPr lang="en-US" dirty="0" err="1"/>
              <a:t>prostej</a:t>
            </a:r>
            <a:r>
              <a:rPr lang="en-US" dirty="0"/>
              <a:t>, </a:t>
            </a:r>
            <a:r>
              <a:rPr lang="en-US" dirty="0" err="1"/>
              <a:t>która</a:t>
            </a:r>
            <a:r>
              <a:rPr lang="en-US" dirty="0"/>
              <a:t> </a:t>
            </a:r>
            <a:r>
              <a:rPr lang="en-US" dirty="0" err="1"/>
              <a:t>zamyka</a:t>
            </a:r>
            <a:r>
              <a:rPr lang="en-US" dirty="0"/>
              <a:t> </a:t>
            </a:r>
            <a:r>
              <a:rPr lang="en-US" dirty="0" err="1"/>
              <a:t>soczewkę</a:t>
            </a:r>
            <a:r>
              <a:rPr lang="en-US" dirty="0"/>
              <a:t>.</a:t>
            </a:r>
            <a:endParaRPr lang="en-US" baseline="-25000" dirty="0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29D9-4F0A-8208-C33F-2F09F636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602A-744C-4A46-A6E3-29D9D9411B6F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46D9-4C32-04A0-F0D2-27E8DFD9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37F2-6C05-7FFE-D9BE-B860E4B3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1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2A19-AA49-2DEF-001F-B8BBC5BE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Działanie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alternatywy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2A96-A36F-1BE2-64D9-EA720DA5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/>
              <a:t>Działanie</a:t>
            </a:r>
            <a:r>
              <a:rPr lang="en-US" b="1" dirty="0"/>
              <a:t>:</a:t>
            </a:r>
          </a:p>
          <a:p>
            <a:r>
              <a:rPr lang="en-US" dirty="0" err="1"/>
              <a:t>Wybór</a:t>
            </a:r>
            <a:r>
              <a:rPr lang="en-US" dirty="0"/>
              <a:t> </a:t>
            </a:r>
            <a:r>
              <a:rPr lang="en-US" dirty="0" err="1"/>
              <a:t>typu</a:t>
            </a:r>
            <a:r>
              <a:rPr lang="en-US" dirty="0"/>
              <a:t> </a:t>
            </a:r>
            <a:r>
              <a:rPr lang="en-US" dirty="0" err="1"/>
              <a:t>soczewki</a:t>
            </a:r>
            <a:endParaRPr lang="en-US" dirty="0"/>
          </a:p>
          <a:p>
            <a:r>
              <a:rPr lang="en-US" err="1"/>
              <a:t>Wybór</a:t>
            </a:r>
            <a:r>
              <a:rPr lang="en-US" dirty="0"/>
              <a:t> </a:t>
            </a:r>
            <a:r>
              <a:rPr lang="en-US" err="1"/>
              <a:t>punktu</a:t>
            </a:r>
            <a:r>
              <a:rPr lang="en-US" dirty="0"/>
              <a:t> </a:t>
            </a:r>
            <a:r>
              <a:rPr lang="en-US" err="1"/>
              <a:t>startu</a:t>
            </a:r>
            <a:r>
              <a:rPr lang="en-US" dirty="0"/>
              <a:t> </a:t>
            </a:r>
            <a:r>
              <a:rPr lang="en-US" err="1"/>
              <a:t>promienia</a:t>
            </a:r>
            <a:endParaRPr lang="en-US"/>
          </a:p>
          <a:p>
            <a:r>
              <a:rPr lang="en-US" dirty="0" err="1"/>
              <a:t>Wprowadzenie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za </a:t>
            </a:r>
            <a:r>
              <a:rPr lang="en-US" dirty="0" err="1"/>
              <a:t>pomocą</a:t>
            </a:r>
            <a:r>
              <a:rPr lang="en-US" dirty="0"/>
              <a:t> </a:t>
            </a:r>
            <a:r>
              <a:rPr lang="en-US" dirty="0" err="1"/>
              <a:t>suwaków</a:t>
            </a:r>
          </a:p>
          <a:p>
            <a:r>
              <a:rPr lang="en-US" dirty="0" err="1"/>
              <a:t>Prezentacja</a:t>
            </a:r>
            <a:r>
              <a:rPr lang="en-US" dirty="0"/>
              <a:t> </a:t>
            </a:r>
            <a:r>
              <a:rPr lang="en-US" dirty="0" err="1"/>
              <a:t>wizualna</a:t>
            </a:r>
            <a:r>
              <a:rPr lang="en-US" dirty="0"/>
              <a:t> </a:t>
            </a:r>
            <a:r>
              <a:rPr lang="en-US" dirty="0" err="1"/>
              <a:t>załamania</a:t>
            </a:r>
            <a:r>
              <a:rPr lang="en-US" dirty="0"/>
              <a:t> </a:t>
            </a:r>
            <a:r>
              <a:rPr lang="en-US" dirty="0" err="1"/>
              <a:t>promienia</a:t>
            </a:r>
            <a:r>
              <a:rPr lang="en-US" dirty="0"/>
              <a:t> w </a:t>
            </a:r>
            <a:r>
              <a:rPr lang="en-US" dirty="0" err="1"/>
              <a:t>soczewce</a:t>
            </a:r>
            <a:r>
              <a:rPr lang="en-US" dirty="0"/>
              <a:t> </a:t>
            </a:r>
            <a:r>
              <a:rPr lang="en-US" dirty="0" err="1"/>
              <a:t>grubej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C0E1C-FE28-8FBB-03A3-E1510586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F99C-8A05-4568-8E4A-A29E8710E1E3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D3289-A099-95E2-9A1E-4CB0ED3E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629FE-CC1C-C96D-9234-3C19F87D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45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393D-8202-0511-EB6E-4FB4332F3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Działanie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alternatywy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12E01-299B-01B0-B324-979DCBF21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/>
              <a:t>Alternatywy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Przygotowanie</a:t>
            </a:r>
            <a:r>
              <a:rPr lang="en-US" dirty="0"/>
              <a:t> </a:t>
            </a:r>
            <a:r>
              <a:rPr lang="en-US" dirty="0" err="1"/>
              <a:t>odgórnie</a:t>
            </a:r>
            <a:r>
              <a:rPr lang="en-US" dirty="0"/>
              <a:t> </a:t>
            </a:r>
            <a:r>
              <a:rPr lang="en-US" dirty="0" err="1"/>
              <a:t>zadanych</a:t>
            </a:r>
            <a:r>
              <a:rPr lang="en-US" dirty="0"/>
              <a:t> </a:t>
            </a:r>
            <a:r>
              <a:rPr lang="en-US" dirty="0" err="1"/>
              <a:t>parametrów</a:t>
            </a:r>
            <a:r>
              <a:rPr lang="en-US" dirty="0"/>
              <a:t> </a:t>
            </a:r>
            <a:r>
              <a:rPr lang="en-US" dirty="0" err="1"/>
              <a:t>soczewek</a:t>
            </a:r>
            <a:endParaRPr lang="en-US" dirty="0"/>
          </a:p>
          <a:p>
            <a:r>
              <a:rPr lang="en-US" dirty="0" err="1"/>
              <a:t>Dynamiczna</a:t>
            </a:r>
            <a:r>
              <a:rPr lang="en-US" dirty="0"/>
              <a:t> </a:t>
            </a:r>
            <a:r>
              <a:rPr lang="en-US" dirty="0" err="1"/>
              <a:t>aktualizacja</a:t>
            </a:r>
            <a:r>
              <a:rPr lang="en-US" dirty="0"/>
              <a:t> </a:t>
            </a:r>
            <a:r>
              <a:rPr lang="en-US" dirty="0" err="1"/>
              <a:t>parametrów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B87A-4039-364C-3386-13879DD4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4612-9F00-4F1F-B825-4027BBD9F6A1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D9887-907B-FF37-38C7-884A5ADB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F9531-6161-7CCE-4230-63C11D9D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22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8054-D41D-94C6-D46A-E8351441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Przykłady</a:t>
            </a:r>
            <a:r>
              <a:rPr lang="en-US" dirty="0"/>
              <a:t> </a:t>
            </a:r>
            <a:r>
              <a:rPr lang="en-US" dirty="0" err="1"/>
              <a:t>załamania</a:t>
            </a:r>
            <a:r>
              <a:rPr lang="en-US" dirty="0"/>
              <a:t> </a:t>
            </a:r>
            <a:r>
              <a:rPr lang="en-US" dirty="0" err="1"/>
              <a:t>promienia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1AEC7D-2556-66B8-F2D7-AFCB63D61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015" y="2694750"/>
            <a:ext cx="3552825" cy="3238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FB82-800F-F09D-B934-41176029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D5197-70EC-4FBA-AF6F-B53DCD4148C3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46F5B-680A-EBED-6E07-B2413366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0623-89B4-F316-B6CB-C1DE0EF5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EFE97F-861C-9243-0876-1D123AB3D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586" y="2695575"/>
            <a:ext cx="3563257" cy="323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3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D2FC-44CA-9A53-589A-BAFDBD10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Praktyczne</a:t>
            </a:r>
            <a:r>
              <a:rPr lang="en-US" dirty="0"/>
              <a:t> </a:t>
            </a:r>
            <a:r>
              <a:rPr lang="en-US" dirty="0" err="1"/>
              <a:t>zastosowania</a:t>
            </a:r>
            <a:r>
              <a:rPr lang="en-US" dirty="0"/>
              <a:t> </a:t>
            </a:r>
            <a:r>
              <a:rPr lang="en-US" dirty="0" err="1"/>
              <a:t>soczewek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15AC-81F8-21E7-E049-B39A67E3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Mikroskopy</a:t>
            </a:r>
          </a:p>
          <a:p>
            <a:r>
              <a:rPr lang="en-US" dirty="0" err="1"/>
              <a:t>Obiektywy</a:t>
            </a:r>
            <a:r>
              <a:rPr lang="en-US" dirty="0"/>
              <a:t> </a:t>
            </a:r>
            <a:r>
              <a:rPr lang="en-US" dirty="0" err="1"/>
              <a:t>aparatów</a:t>
            </a:r>
          </a:p>
          <a:p>
            <a:r>
              <a:rPr lang="en-US" err="1"/>
              <a:t>Teleskopy</a:t>
            </a:r>
            <a:endParaRPr lang="en-US"/>
          </a:p>
          <a:p>
            <a:r>
              <a:rPr lang="en-US" dirty="0" err="1"/>
              <a:t>Spektrofotometria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253E5-36AD-A8DE-DD9A-E15D11D07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E7AD-8AE2-47F1-9F1D-0139FC19EBBB}" type="datetime1"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FE7FE-7AE4-7A67-4BB8-CDB82C28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7A410-FA6C-2C87-E93D-610580CD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1974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DashVTI</vt:lpstr>
      <vt:lpstr>Optyka geometryczna</vt:lpstr>
      <vt:lpstr>Optyka geometryczna</vt:lpstr>
      <vt:lpstr>Opis zjawiska</vt:lpstr>
      <vt:lpstr>Rodzaje soczewek</vt:lpstr>
      <vt:lpstr>Soczewka dwuwypukła</vt:lpstr>
      <vt:lpstr>Soczewka dwuwklęsła</vt:lpstr>
      <vt:lpstr>Soczewka płasko-wypukła</vt:lpstr>
      <vt:lpstr>Soczewka płasko-wklęsła</vt:lpstr>
      <vt:lpstr>Promień świetlny</vt:lpstr>
      <vt:lpstr>Promień świetlny</vt:lpstr>
      <vt:lpstr>Promień</vt:lpstr>
      <vt:lpstr>Działanie i alternatywy</vt:lpstr>
      <vt:lpstr>Działanie i alternatywy</vt:lpstr>
      <vt:lpstr>Przykłady załamania promienia</vt:lpstr>
      <vt:lpstr>Praktyczne zastosowania soczewek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509</cp:revision>
  <dcterms:created xsi:type="dcterms:W3CDTF">2026-01-18T17:58:24Z</dcterms:created>
  <dcterms:modified xsi:type="dcterms:W3CDTF">2026-01-24T14:50:07Z</dcterms:modified>
</cp:coreProperties>
</file>